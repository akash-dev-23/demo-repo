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14630400" cy="8229600"/>
  <p:notesSz cx="8229600" cy="14630400"/>
  <p:embeddedFontLst>
    <p:embeddedFont>
      <p:font typeface="DM Sans Medium" pitchFamily="2" charset="0"/>
      <p:regular r:id="rId9"/>
    </p:embeddedFont>
    <p:embeddedFont>
      <p:font typeface="Inter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3519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34148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Trips Report Analysis Using Medallion Architecture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849767"/>
            <a:ext cx="67028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End-to-End Data Engineering &amp; Analytics Solution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54425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Transforming raw trip data into actionable business insights through a structured, scalable approach.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52521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Akash Kumar</a:t>
            </a:r>
            <a:endParaRPr lang="en-US" sz="1750" dirty="0"/>
          </a:p>
        </p:txBody>
      </p:sp>
      <p:pic>
        <p:nvPicPr>
          <p:cNvPr id="7" name="Image 0">
            <a:extLst>
              <a:ext uri="{FF2B5EF4-FFF2-40B4-BE49-F238E27FC236}">
                <a16:creationId xmlns:a16="http://schemas.microsoft.com/office/drawing/2014/main" id="{5C5CA176-FD2F-2125-D413-012FFF4E0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919" y="0"/>
            <a:ext cx="5414481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3852"/>
            <a:ext cx="79161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Business Problem &amp; Use Case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56259"/>
            <a:ext cx="4104802" cy="2679025"/>
          </a:xfrm>
          <a:prstGeom prst="roundRect">
            <a:avLst>
              <a:gd name="adj" fmla="val 5461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3310" y="2456259"/>
            <a:ext cx="121920" cy="2679025"/>
          </a:xfrm>
          <a:prstGeom prst="roundRect">
            <a:avLst>
              <a:gd name="adj" fmla="val 27907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42524" y="2713553"/>
            <a:ext cx="30825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Volume Challenge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203972"/>
            <a:ext cx="359033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volume of raw trip data.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42524" y="3573542"/>
            <a:ext cx="33781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Unstructured formats hinder</a:t>
            </a:r>
            <a:endParaRPr lang="en-US" sz="1750" dirty="0">
              <a:solidFill>
                <a:srgbClr val="161613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2524" y="3943112"/>
            <a:ext cx="359033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  <a:buSzPct val="100000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analysis.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Bottlenecks for timely insights.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456259"/>
            <a:ext cx="4196358" cy="2679025"/>
          </a:xfrm>
          <a:prstGeom prst="roundRect">
            <a:avLst>
              <a:gd name="adj" fmla="val 5461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186482" y="2456259"/>
            <a:ext cx="121920" cy="2679025"/>
          </a:xfrm>
          <a:prstGeom prst="roundRect">
            <a:avLst>
              <a:gd name="adj" fmla="val 27907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565696" y="2713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Quality &amp; Reliability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65696" y="3203972"/>
            <a:ext cx="359033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issue affect accuracy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565696" y="3573542"/>
            <a:ext cx="3590330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Inconsistent formats, missing values, duplicates.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565696" y="4233386"/>
            <a:ext cx="359033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trust in analytics.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2" y="2456259"/>
            <a:ext cx="4226957" cy="2679025"/>
          </a:xfrm>
          <a:prstGeom prst="roundRect">
            <a:avLst>
              <a:gd name="adj" fmla="val 5461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609653" y="2456259"/>
            <a:ext cx="121920" cy="2679025"/>
          </a:xfrm>
          <a:prstGeom prst="roundRect">
            <a:avLst>
              <a:gd name="adj" fmla="val 27907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988868" y="2713553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Business Intelligence Needs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988868" y="3558302"/>
            <a:ext cx="359033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reliable KPIs and insights.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988868" y="3927872"/>
            <a:ext cx="359033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processes lack structure.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9988868" y="4297442"/>
            <a:ext cx="3590330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Struggle to deliver consistent, actionable metrics.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93790" y="5503816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93790" y="587990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Our Solution</a:t>
            </a:r>
            <a:endParaRPr lang="en-US" sz="2650" dirty="0"/>
          </a:p>
        </p:txBody>
      </p:sp>
      <p:sp>
        <p:nvSpPr>
          <p:cNvPr id="23" name="Text 21"/>
          <p:cNvSpPr/>
          <p:nvPr/>
        </p:nvSpPr>
        <p:spPr>
          <a:xfrm>
            <a:off x="793790" y="6645354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raw trip data into clean, analytics-ready datasets, ensuring data quality, scalability, and governance.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16430" y="606147"/>
            <a:ext cx="7878128" cy="533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Medallion Architecture Implementation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1916430" y="1481018"/>
            <a:ext cx="10797540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 approach to data transformation that progressively refines data quality and business value.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430" y="1946196"/>
            <a:ext cx="5398770" cy="6828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87047" y="2799636"/>
            <a:ext cx="21338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Raw Lakehouse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2087047" y="3168729"/>
            <a:ext cx="5057537" cy="546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unprocessed trip data in native formats. Preserves complete data history for audit and reprocessing.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946196"/>
            <a:ext cx="5398770" cy="6828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85817" y="2799636"/>
            <a:ext cx="21338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Bronze Layer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7485817" y="3168729"/>
            <a:ext cx="5057537" cy="546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Ingested and structured raw data. Initial validation and schema enforcement applied.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6430" y="3885605"/>
            <a:ext cx="5398770" cy="6828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087047" y="4739045"/>
            <a:ext cx="21338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Silver Layer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2087047" y="5108138"/>
            <a:ext cx="5057537" cy="546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Cleaned, validated, and transformed data. Business rules applied, duplicates removed.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3885605"/>
            <a:ext cx="5398770" cy="6828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85817" y="4739045"/>
            <a:ext cx="21338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Gold Layer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7485817" y="5108138"/>
            <a:ext cx="5057537" cy="546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Aggregated, business-ready data. Optimized for reporting and analytics consumption.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916430" y="6187678"/>
            <a:ext cx="21338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Benefits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1916430" y="6624995"/>
            <a:ext cx="5190530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data quality and consistency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916430" y="6957774"/>
            <a:ext cx="5190530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scalability for growing data volumes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916430" y="7290554"/>
            <a:ext cx="5190530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strong data governance practices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531060" y="6187678"/>
            <a:ext cx="218658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Technical Advantages</a:t>
            </a:r>
            <a:endParaRPr lang="en-US" sz="1650" dirty="0"/>
          </a:p>
        </p:txBody>
      </p:sp>
      <p:sp>
        <p:nvSpPr>
          <p:cNvPr id="21" name="Text 15"/>
          <p:cNvSpPr/>
          <p:nvPr/>
        </p:nvSpPr>
        <p:spPr>
          <a:xfrm>
            <a:off x="7531060" y="6624995"/>
            <a:ext cx="5190530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separation of concerns at each layer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531060" y="6957774"/>
            <a:ext cx="5190530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Reprocessing capability without data loss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531060" y="7290554"/>
            <a:ext cx="5190530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performance for analytics workloads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EED4CEC-AB55-0651-4F6C-25D137E67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" y="2119098"/>
            <a:ext cx="13458825" cy="55530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CE82FA-D525-8BE3-9841-5D9C3ABCD432}"/>
              </a:ext>
            </a:extLst>
          </p:cNvPr>
          <p:cNvSpPr txBox="1"/>
          <p:nvPr/>
        </p:nvSpPr>
        <p:spPr>
          <a:xfrm>
            <a:off x="585787" y="557427"/>
            <a:ext cx="4982967" cy="728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280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Architecture Diagram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84756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6316" y="551736"/>
            <a:ext cx="9105067" cy="62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Semantic Model &amp; Power BI Dashboard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06316" y="1574125"/>
            <a:ext cx="199430" cy="249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1006316" y="1890236"/>
            <a:ext cx="4072890" cy="2286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06316" y="2035612"/>
            <a:ext cx="2758440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Semantic Model Design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06316" y="2466856"/>
            <a:ext cx="4072890" cy="95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on top of Gold Layer with defined table relationships and calculated business measures.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278636" y="1574125"/>
            <a:ext cx="199430" cy="249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78636" y="1890236"/>
            <a:ext cx="4072890" cy="2286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278636" y="2035612"/>
            <a:ext cx="291584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Dashboard Development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278636" y="2466856"/>
            <a:ext cx="4072890" cy="638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interactive visualizations with drill-down capabilities for deep analysis.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550956" y="1574125"/>
            <a:ext cx="199430" cy="249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550956" y="1890236"/>
            <a:ext cx="4073009" cy="2286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550956" y="2035612"/>
            <a:ext cx="2493526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 Experience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550956" y="2466856"/>
            <a:ext cx="4073009" cy="638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intuitive navigation and self-service analytics for business users.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006316" y="3897973"/>
            <a:ext cx="12617648" cy="32504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06316" y="4229576"/>
            <a:ext cx="3885128" cy="373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Performance Indicators</a:t>
            </a:r>
            <a:endParaRPr lang="en-US" sz="23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316" y="4902756"/>
            <a:ext cx="498634" cy="49863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754267" y="5021104"/>
            <a:ext cx="2493526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Total Trips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754267" y="5452348"/>
            <a:ext cx="5436156" cy="638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trip volume tracking across all locations and time periods</a:t>
            </a:r>
            <a:endParaRPr lang="en-US" sz="15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9739" y="4902756"/>
            <a:ext cx="498634" cy="49863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187690" y="5021104"/>
            <a:ext cx="2668191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Revenue &amp; Fare Trends</a:t>
            </a:r>
            <a:endParaRPr lang="en-US" sz="1950" dirty="0"/>
          </a:p>
        </p:txBody>
      </p:sp>
      <p:sp>
        <p:nvSpPr>
          <p:cNvPr id="22" name="Text 18"/>
          <p:cNvSpPr/>
          <p:nvPr/>
        </p:nvSpPr>
        <p:spPr>
          <a:xfrm>
            <a:off x="8187690" y="5452348"/>
            <a:ext cx="5436275" cy="638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performance analysis with trend identification and forecasting</a:t>
            </a:r>
            <a:endParaRPr lang="en-US" sz="15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316" y="6489740"/>
            <a:ext cx="498634" cy="49863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754267" y="6608088"/>
            <a:ext cx="2493526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Trips by Location</a:t>
            </a:r>
            <a:endParaRPr lang="en-US" sz="1950" dirty="0"/>
          </a:p>
        </p:txBody>
      </p:sp>
      <p:sp>
        <p:nvSpPr>
          <p:cNvPr id="25" name="Text 20"/>
          <p:cNvSpPr/>
          <p:nvPr/>
        </p:nvSpPr>
        <p:spPr>
          <a:xfrm>
            <a:off x="1754267" y="7039332"/>
            <a:ext cx="5436156" cy="638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Geographic distribution and route analysis for operational optimization</a:t>
            </a:r>
            <a:endParaRPr lang="en-US" sz="155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39739" y="6489740"/>
            <a:ext cx="498634" cy="49863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187690" y="6608088"/>
            <a:ext cx="2493526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Time-based Analysis</a:t>
            </a:r>
            <a:endParaRPr lang="en-US" sz="1950" dirty="0"/>
          </a:p>
        </p:txBody>
      </p:sp>
      <p:sp>
        <p:nvSpPr>
          <p:cNvPr id="28" name="Text 22"/>
          <p:cNvSpPr/>
          <p:nvPr/>
        </p:nvSpPr>
        <p:spPr>
          <a:xfrm>
            <a:off x="8187690" y="7039332"/>
            <a:ext cx="5436275" cy="638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Temporal patterns revealing peak hours, seasonal trends, and usage cycles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0163" y="523042"/>
            <a:ext cx="475488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Learnings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1300163" y="1497687"/>
            <a:ext cx="3883223" cy="3807738"/>
          </a:xfrm>
          <a:prstGeom prst="roundRect">
            <a:avLst>
              <a:gd name="adj" fmla="val 749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956441" y="1687830"/>
            <a:ext cx="570548" cy="570548"/>
          </a:xfrm>
          <a:prstGeom prst="roundRect">
            <a:avLst>
              <a:gd name="adj" fmla="val 16025094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3365" y="1844635"/>
            <a:ext cx="256699" cy="2566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841" y="2448520"/>
            <a:ext cx="2551748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Medallion Architecture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490305" y="2859762"/>
            <a:ext cx="3502938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Structured, scalable approach to data transformation.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90305" y="3534728"/>
            <a:ext cx="3502938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Roboto" panose="020F0502020204030204" pitchFamily="2" charset="0"/>
              </a:rPr>
              <a:t>Ensures</a:t>
            </a: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progressive data refinement.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90305" y="4209693"/>
            <a:ext cx="3502938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raw ingestion to curated insights.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373529" y="1497687"/>
            <a:ext cx="3883223" cy="3807738"/>
          </a:xfrm>
          <a:prstGeom prst="roundRect">
            <a:avLst>
              <a:gd name="adj" fmla="val 749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7029807" y="1687830"/>
            <a:ext cx="570548" cy="570548"/>
          </a:xfrm>
          <a:prstGeom prst="roundRect">
            <a:avLst>
              <a:gd name="adj" fmla="val 16025094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86732" y="1844635"/>
            <a:ext cx="256699" cy="25669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63672" y="2448520"/>
            <a:ext cx="3502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Quality &amp; Semantic Model Design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5563672" y="3156942"/>
            <a:ext cx="3502938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Crucial for accurate business metrics.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563672" y="3831908"/>
            <a:ext cx="3502938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reliable analytics across the organization.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5563672" y="4506873"/>
            <a:ext cx="3502938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high data quality and robust semantic models.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9446895" y="1497687"/>
            <a:ext cx="3883223" cy="3807738"/>
          </a:xfrm>
          <a:prstGeom prst="roundRect">
            <a:avLst>
              <a:gd name="adj" fmla="val 749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11103173" y="1687830"/>
            <a:ext cx="570548" cy="570548"/>
          </a:xfrm>
          <a:prstGeom prst="roundRect">
            <a:avLst>
              <a:gd name="adj" fmla="val 16025094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60098" y="1844635"/>
            <a:ext cx="256699" cy="25669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877663" y="2448520"/>
            <a:ext cx="3021568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End-to-End Analytics Flow</a:t>
            </a:r>
            <a:endParaRPr lang="en-US" sz="1850" dirty="0"/>
          </a:p>
        </p:txBody>
      </p:sp>
      <p:sp>
        <p:nvSpPr>
          <p:cNvPr id="21" name="Text 16"/>
          <p:cNvSpPr/>
          <p:nvPr/>
        </p:nvSpPr>
        <p:spPr>
          <a:xfrm>
            <a:off x="9637038" y="2859762"/>
            <a:ext cx="3502938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Integrates all components for a seamless pipeline.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9637038" y="3534728"/>
            <a:ext cx="3502938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timely and actionable insights.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9637038" y="4209693"/>
            <a:ext cx="3502938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Directly to business users.</a:t>
            </a:r>
            <a:endParaRPr lang="en-US" sz="1450" dirty="0"/>
          </a:p>
        </p:txBody>
      </p:sp>
      <p:sp>
        <p:nvSpPr>
          <p:cNvPr id="24" name="Shape 19"/>
          <p:cNvSpPr/>
          <p:nvPr/>
        </p:nvSpPr>
        <p:spPr>
          <a:xfrm>
            <a:off x="1300163" y="5614435"/>
            <a:ext cx="12029956" cy="31313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0"/>
          <p:cNvSpPr/>
          <p:nvPr/>
        </p:nvSpPr>
        <p:spPr>
          <a:xfrm>
            <a:off x="1300163" y="5930979"/>
            <a:ext cx="9509760" cy="118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50"/>
              </a:lnSpc>
              <a:buNone/>
            </a:pPr>
            <a:r>
              <a:rPr lang="en-US" sz="7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Thank You</a:t>
            </a:r>
            <a:endParaRPr lang="en-US" sz="7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428</Words>
  <Application>Microsoft Office PowerPoint</Application>
  <PresentationFormat>Custom</PresentationFormat>
  <Paragraphs>77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DM Sans Light</vt:lpstr>
      <vt:lpstr>DM Sans Medium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Akash Kumar</cp:lastModifiedBy>
  <cp:revision>8</cp:revision>
  <dcterms:created xsi:type="dcterms:W3CDTF">2026-01-09T06:54:02Z</dcterms:created>
  <dcterms:modified xsi:type="dcterms:W3CDTF">2026-01-11T07:17:18Z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e4186ff-6105-49c9-a34e-39b846c71822_Enabled">
    <vt:lpwstr>true</vt:lpwstr>
  </property>
  <property fmtid="{D5CDD505-2E9C-101B-9397-08002B2CF9AE}" pid="3" name="MSIP_Label_6e4186ff-6105-49c9-a34e-39b846c71822_SetDate">
    <vt:lpwstr>2026-01-09T06:54:44Z</vt:lpwstr>
  </property>
  <property fmtid="{D5CDD505-2E9C-101B-9397-08002B2CF9AE}" pid="4" name="MSIP_Label_6e4186ff-6105-49c9-a34e-39b846c71822_Method">
    <vt:lpwstr>Standard</vt:lpwstr>
  </property>
  <property fmtid="{D5CDD505-2E9C-101B-9397-08002B2CF9AE}" pid="5" name="MSIP_Label_6e4186ff-6105-49c9-a34e-39b846c71822_Name">
    <vt:lpwstr>Internal</vt:lpwstr>
  </property>
  <property fmtid="{D5CDD505-2E9C-101B-9397-08002B2CF9AE}" pid="6" name="MSIP_Label_6e4186ff-6105-49c9-a34e-39b846c71822_SiteId">
    <vt:lpwstr>5501edf8-56e7-47c5-8cde-a3f87fe1ec0d</vt:lpwstr>
  </property>
  <property fmtid="{D5CDD505-2E9C-101B-9397-08002B2CF9AE}" pid="7" name="MSIP_Label_6e4186ff-6105-49c9-a34e-39b846c71822_ActionId">
    <vt:lpwstr>f39a6ec3-9da0-44c1-84ed-53838434fb0b</vt:lpwstr>
  </property>
  <property fmtid="{D5CDD505-2E9C-101B-9397-08002B2CF9AE}" pid="8" name="MSIP_Label_6e4186ff-6105-49c9-a34e-39b846c71822_ContentBits">
    <vt:lpwstr>0</vt:lpwstr>
  </property>
  <property fmtid="{D5CDD505-2E9C-101B-9397-08002B2CF9AE}" pid="9" name="MSIP_Label_6e4186ff-6105-49c9-a34e-39b846c71822_Tag">
    <vt:lpwstr>10, 3, 0, 1</vt:lpwstr>
  </property>
</Properties>
</file>